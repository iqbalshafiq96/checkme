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  <p:sldMasterId id="2147483653" r:id="rId2"/>
  </p:sldMasterIdLst>
  <p:notesMasterIdLst>
    <p:notesMasterId r:id="rId52"/>
  </p:notesMasterIdLst>
  <p:sldIdLst>
    <p:sldId id="256" r:id="rId3"/>
    <p:sldId id="375" r:id="rId4"/>
    <p:sldId id="381" r:id="rId5"/>
    <p:sldId id="382" r:id="rId6"/>
    <p:sldId id="383" r:id="rId7"/>
    <p:sldId id="384" r:id="rId8"/>
    <p:sldId id="385" r:id="rId9"/>
    <p:sldId id="386" r:id="rId10"/>
    <p:sldId id="377" r:id="rId11"/>
    <p:sldId id="411" r:id="rId12"/>
    <p:sldId id="378" r:id="rId13"/>
    <p:sldId id="391" r:id="rId14"/>
    <p:sldId id="387" r:id="rId15"/>
    <p:sldId id="392" r:id="rId16"/>
    <p:sldId id="413" r:id="rId17"/>
    <p:sldId id="414" r:id="rId18"/>
    <p:sldId id="415" r:id="rId19"/>
    <p:sldId id="419" r:id="rId20"/>
    <p:sldId id="422" r:id="rId21"/>
    <p:sldId id="409" r:id="rId22"/>
    <p:sldId id="410" r:id="rId23"/>
    <p:sldId id="379" r:id="rId24"/>
    <p:sldId id="417" r:id="rId25"/>
    <p:sldId id="418" r:id="rId26"/>
    <p:sldId id="416" r:id="rId27"/>
    <p:sldId id="380" r:id="rId28"/>
    <p:sldId id="421" r:id="rId29"/>
    <p:sldId id="412" r:id="rId30"/>
    <p:sldId id="420" r:id="rId31"/>
    <p:sldId id="388" r:id="rId32"/>
    <p:sldId id="401" r:id="rId33"/>
    <p:sldId id="389" r:id="rId34"/>
    <p:sldId id="390" r:id="rId35"/>
    <p:sldId id="395" r:id="rId36"/>
    <p:sldId id="393" r:id="rId37"/>
    <p:sldId id="403" r:id="rId38"/>
    <p:sldId id="402" r:id="rId39"/>
    <p:sldId id="404" r:id="rId40"/>
    <p:sldId id="405" r:id="rId41"/>
    <p:sldId id="406" r:id="rId42"/>
    <p:sldId id="394" r:id="rId43"/>
    <p:sldId id="396" r:id="rId44"/>
    <p:sldId id="397" r:id="rId45"/>
    <p:sldId id="398" r:id="rId46"/>
    <p:sldId id="399" r:id="rId47"/>
    <p:sldId id="400" r:id="rId48"/>
    <p:sldId id="407" r:id="rId49"/>
    <p:sldId id="408" r:id="rId50"/>
    <p:sldId id="373" r:id="rId51"/>
  </p:sldIdLst>
  <p:sldSz cx="9144000" cy="6858000" type="screen4x3"/>
  <p:notesSz cx="7099300" cy="10234613"/>
  <p:embeddedFontLst>
    <p:embeddedFont>
      <p:font typeface="Cabin" panose="020B0604020202020204" charset="0"/>
      <p:regular r:id="rId53"/>
      <p:bold r:id="rId54"/>
      <p:italic r:id="rId55"/>
      <p:boldItalic r:id="rId56"/>
    </p:embeddedFont>
    <p:embeddedFont>
      <p:font typeface="Calibri" panose="020F0502020204030204" pitchFamily="34" charset="0"/>
      <p:regular r:id="rId57"/>
      <p:bold r:id="rId58"/>
      <p:italic r:id="rId59"/>
      <p:boldItalic r:id="rId60"/>
    </p:embeddedFont>
    <p:embeddedFont>
      <p:font typeface="Gill Sans" panose="020B0604020202020204" charset="0"/>
      <p:regular r:id="rId61"/>
      <p:bold r:id="rId62"/>
    </p:embeddedFont>
    <p:embeddedFont>
      <p:font typeface="Roboto" panose="02000000000000000000" pitchFamily="2" charset="0"/>
      <p:regular r:id="rId63"/>
      <p:bold r:id="rId64"/>
      <p:italic r:id="rId65"/>
      <p:boldItalic r:id="rId66"/>
    </p:embeddedFont>
  </p:embeddedFontLst>
  <p:custDataLst>
    <p:tags r:id="rId6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0" roundtripDataSignature="AMtx7mhocWfVTysoJM8ceygyeXtDq8HK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8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7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1.fntdata"/><Relationship Id="rId1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131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font" Target="fonts/font9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13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7.fntdata"/><Relationship Id="rId67" Type="http://schemas.openxmlformats.org/officeDocument/2006/relationships/tags" Target="tags/tag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3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5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130" Type="http://customschemas.google.com/relationships/presentationmetadata" Target="metadata"/><Relationship Id="rId135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font" Target="fonts/font3.fntdata"/><Relationship Id="rId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qbal Shafiq bin Mohd Shaufi" userId="fcd2a147-82d0-4f44-838d-005f25f63238" providerId="ADAL" clId="{69F8F427-9E5C-43D5-A24B-6476F669C11F}"/>
    <pc:docChg chg="custSel replTag">
      <pc:chgData name="Muhammad Iqbal Shafiq bin Mohd Shaufi" userId="fcd2a147-82d0-4f44-838d-005f25f63238" providerId="ADAL" clId="{69F8F427-9E5C-43D5-A24B-6476F669C11F}" dt="2023-07-06T09:53:46.027" v="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32" tIns="49502" rIns="99032" bIns="49502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1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32" tIns="49502" rIns="99032" bIns="49502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32" tIns="49502" rIns="99032" bIns="49502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32" tIns="49502" rIns="99032" bIns="49502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32" tIns="49502" rIns="99032" bIns="49502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ts val="1200"/>
              </a:pPr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2440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5433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8398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8662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2826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6211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25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9679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4228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5970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5099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4568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1481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2602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03970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8211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06588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10114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83884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10301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14050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47680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3035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87781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72255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46635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38682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13171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65755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67072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36364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94271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40571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796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3717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01121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86647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86998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68545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26111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97395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32101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81134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77878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1533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32336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77389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22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32" tIns="49502" rIns="99032" bIns="49502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157" name="Google Shape;11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57927"/>
            <a:ext cx="9144000" cy="210007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8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6E"/>
              </a:buClr>
              <a:buSzPts val="2600"/>
              <a:buFont typeface="Cabin"/>
              <a:buNone/>
              <a:defRPr sz="2600" b="1" i="0" u="none" strike="noStrike" cap="none">
                <a:solidFill>
                  <a:srgbClr val="0054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body" idx="1"/>
          </p:nvPr>
        </p:nvSpPr>
        <p:spPr>
          <a:xfrm>
            <a:off x="106104" y="645803"/>
            <a:ext cx="8931900" cy="51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3F3F3F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−"/>
              <a:defRPr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432F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432FF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B05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7030A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cxnSp>
        <p:nvCxnSpPr>
          <p:cNvPr id="27" name="Google Shape;27;p28"/>
          <p:cNvCxnSpPr/>
          <p:nvPr/>
        </p:nvCxnSpPr>
        <p:spPr>
          <a:xfrm>
            <a:off x="-1" y="594020"/>
            <a:ext cx="9144000" cy="8713"/>
          </a:xfrm>
          <a:prstGeom prst="straightConnector1">
            <a:avLst/>
          </a:prstGeom>
          <a:noFill/>
          <a:ln w="38100" cap="flat" cmpd="sng">
            <a:solidFill>
              <a:srgbClr val="00546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8" name="Google Shape;2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8543" y="6202392"/>
            <a:ext cx="1155456" cy="64416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8"/>
          <p:cNvSpPr txBox="1"/>
          <p:nvPr/>
        </p:nvSpPr>
        <p:spPr>
          <a:xfrm>
            <a:off x="6631600" y="6449100"/>
            <a:ext cx="16035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bg>
      <p:bgPr>
        <a:gradFill>
          <a:gsLst>
            <a:gs pos="0">
              <a:srgbClr val="FFFFFF"/>
            </a:gs>
            <a:gs pos="35000">
              <a:srgbClr val="FFFFFF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57928"/>
            <a:ext cx="9144000" cy="2100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1"/>
            <a:ext cx="9144000" cy="210007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Cabin"/>
              <a:buNone/>
              <a:defRPr sz="4000" b="1" i="0" u="none" strike="noStrike" cap="none">
                <a:solidFill>
                  <a:srgbClr val="595959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bin"/>
              <a:buNone/>
              <a:defRPr sz="45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57927"/>
            <a:ext cx="9144000" cy="21000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7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6E"/>
              </a:buClr>
              <a:buSzPts val="2600"/>
              <a:buFont typeface="Cabin"/>
              <a:buNone/>
              <a:defRPr sz="2600" b="1" i="0" u="none" strike="noStrike" cap="none">
                <a:solidFill>
                  <a:srgbClr val="0054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ftr" idx="11"/>
          </p:nvPr>
        </p:nvSpPr>
        <p:spPr>
          <a:xfrm>
            <a:off x="785004" y="6531438"/>
            <a:ext cx="57316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1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body" idx="1"/>
          </p:nvPr>
        </p:nvSpPr>
        <p:spPr>
          <a:xfrm>
            <a:off x="106104" y="645803"/>
            <a:ext cx="8931790" cy="518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3F3F3F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−"/>
              <a:defRPr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432F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432FF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B05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7030A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cxnSp>
        <p:nvCxnSpPr>
          <p:cNvPr id="52" name="Google Shape;52;p27"/>
          <p:cNvCxnSpPr/>
          <p:nvPr/>
        </p:nvCxnSpPr>
        <p:spPr>
          <a:xfrm>
            <a:off x="-1" y="594020"/>
            <a:ext cx="9144000" cy="8713"/>
          </a:xfrm>
          <a:prstGeom prst="straightConnector1">
            <a:avLst/>
          </a:prstGeom>
          <a:noFill/>
          <a:ln w="38100" cap="flat" cmpd="sng">
            <a:solidFill>
              <a:srgbClr val="00546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3" name="Google Shape;5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8543" y="6202392"/>
            <a:ext cx="1155456" cy="644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gradFill>
          <a:gsLst>
            <a:gs pos="0">
              <a:srgbClr val="FFFFFF"/>
            </a:gs>
            <a:gs pos="35000">
              <a:srgbClr val="FFFFFF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057963"/>
            <a:ext cx="9144000" cy="4203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" y="107522"/>
            <a:ext cx="1557020" cy="794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0" y="107522"/>
            <a:ext cx="1432560" cy="79793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1"/>
          <p:cNvSpPr txBox="1">
            <a:spLocks noGrp="1"/>
          </p:cNvSpPr>
          <p:nvPr>
            <p:ph type="title"/>
          </p:nvPr>
        </p:nvSpPr>
        <p:spPr>
          <a:xfrm>
            <a:off x="142408" y="1268408"/>
            <a:ext cx="8859185" cy="132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bin"/>
              <a:buNone/>
              <a:defRPr sz="3200" b="1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body" idx="1"/>
          </p:nvPr>
        </p:nvSpPr>
        <p:spPr>
          <a:xfrm>
            <a:off x="142409" y="2736404"/>
            <a:ext cx="8859184" cy="100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2"/>
          </p:nvPr>
        </p:nvSpPr>
        <p:spPr>
          <a:xfrm>
            <a:off x="142409" y="5531319"/>
            <a:ext cx="8859184" cy="100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bg>
      <p:bgPr>
        <a:gradFill>
          <a:gsLst>
            <a:gs pos="0">
              <a:srgbClr val="FFFFFF"/>
            </a:gs>
            <a:gs pos="35000">
              <a:srgbClr val="FFFFFF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57928"/>
            <a:ext cx="9144000" cy="2100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1"/>
            <a:ext cx="9144000" cy="210007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2"/>
          <p:cNvSpPr txBox="1"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Cabin"/>
              <a:buNone/>
              <a:defRPr sz="4000" b="1" i="0" u="none" strike="noStrike" cap="none">
                <a:solidFill>
                  <a:srgbClr val="595959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bin"/>
              <a:buNone/>
              <a:defRPr sz="4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bin"/>
              <a:buNone/>
              <a:defRPr sz="4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icture containing text, tree, outdoor, traveling&#10;&#10;Description automatically generated">
            <a:extLst>
              <a:ext uri="{FF2B5EF4-FFF2-40B4-BE49-F238E27FC236}">
                <a16:creationId xmlns:a16="http://schemas.microsoft.com/office/drawing/2014/main" id="{25B9EE33-7D30-B79A-59DF-B5C7CFF1AD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32"/>
          <a:stretch/>
        </p:blipFill>
        <p:spPr>
          <a:xfrm>
            <a:off x="0" y="847278"/>
            <a:ext cx="9144000" cy="16859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F9DEE1-B42E-1BEF-DFE2-53868DAFD85F}"/>
              </a:ext>
            </a:extLst>
          </p:cNvPr>
          <p:cNvSpPr txBox="1"/>
          <p:nvPr/>
        </p:nvSpPr>
        <p:spPr>
          <a:xfrm>
            <a:off x="180957" y="2861123"/>
            <a:ext cx="8515321" cy="3416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2700" b="1" dirty="0">
                <a:solidFill>
                  <a:srgbClr val="FF0000"/>
                </a:solidFill>
                <a:latin typeface="Roboto" panose="02000000000000000000" pitchFamily="2" charset="0"/>
              </a:rPr>
              <a:t>Machine Learning and A.I Training Modules</a:t>
            </a:r>
          </a:p>
          <a:p>
            <a:pPr algn="ctr"/>
            <a:endParaRPr lang="en-GB" sz="2700" b="1" dirty="0">
              <a:ln>
                <a:solidFill>
                  <a:schemeClr val="tx1"/>
                </a:solidFill>
              </a:ln>
              <a:latin typeface="Roboto" panose="02000000000000000000" pitchFamily="2" charset="0"/>
            </a:endParaRPr>
          </a:p>
          <a:p>
            <a:pPr algn="ctr"/>
            <a:r>
              <a:rPr lang="en-GB" sz="2700" b="1" dirty="0">
                <a:ln>
                  <a:solidFill>
                    <a:schemeClr val="tx1"/>
                  </a:solidFill>
                </a:ln>
                <a:latin typeface="Roboto" panose="02000000000000000000" pitchFamily="2" charset="0"/>
              </a:rPr>
              <a:t>Beginner</a:t>
            </a:r>
          </a:p>
          <a:p>
            <a:pPr algn="ctr" defTabSz="685800">
              <a:buClrTx/>
              <a:defRPr/>
            </a:pPr>
            <a:r>
              <a:rPr lang="en-US" sz="2700" b="1" kern="1200" dirty="0">
                <a:ln>
                  <a:solidFill>
                    <a:prstClr val="black"/>
                  </a:solidFill>
                </a:ln>
                <a:solidFill>
                  <a:prstClr val="black"/>
                </a:solidFill>
                <a:latin typeface="Roboto" panose="02000000000000000000" pitchFamily="2" charset="0"/>
                <a:ea typeface="+mn-ea"/>
                <a:cs typeface="+mn-cs"/>
              </a:rPr>
              <a:t>Introduction to Time-Series Data Analysis </a:t>
            </a:r>
          </a:p>
          <a:p>
            <a:pPr algn="ctr" defTabSz="685800">
              <a:buClrTx/>
              <a:defRPr/>
            </a:pPr>
            <a:r>
              <a:rPr lang="en-US" sz="2700" b="1" kern="1200" dirty="0">
                <a:ln>
                  <a:solidFill>
                    <a:prstClr val="black"/>
                  </a:solidFill>
                </a:ln>
                <a:solidFill>
                  <a:prstClr val="black"/>
                </a:solidFill>
                <a:latin typeface="Roboto" panose="02000000000000000000" pitchFamily="2" charset="0"/>
                <a:ea typeface="+mn-ea"/>
                <a:cs typeface="+mn-cs"/>
              </a:rPr>
              <a:t>and Neural Network</a:t>
            </a:r>
          </a:p>
          <a:p>
            <a:pPr algn="ctr" defTabSz="685800">
              <a:buClrTx/>
              <a:defRPr/>
            </a:pPr>
            <a:r>
              <a:rPr lang="en-GB" sz="2700" b="1" kern="1200" dirty="0">
                <a:ln>
                  <a:solidFill>
                    <a:prstClr val="black"/>
                  </a:solidFill>
                </a:ln>
                <a:solidFill>
                  <a:prstClr val="black"/>
                </a:solidFill>
                <a:latin typeface="Roboto" panose="02000000000000000000" pitchFamily="2" charset="0"/>
                <a:ea typeface="+mn-ea"/>
                <a:cs typeface="+mn-cs"/>
              </a:rPr>
              <a:t>(Slot 7 &amp; 8)</a:t>
            </a:r>
            <a:endParaRPr lang="en-GB" sz="2700" b="1" dirty="0">
              <a:ln>
                <a:solidFill>
                  <a:schemeClr val="tx1"/>
                </a:solidFill>
              </a:ln>
              <a:latin typeface="Roboto" panose="02000000000000000000" pitchFamily="2" charset="0"/>
            </a:endParaRPr>
          </a:p>
          <a:p>
            <a:pPr algn="ctr"/>
            <a:r>
              <a:rPr lang="en-GB" sz="2700" b="1" dirty="0">
                <a:ln>
                  <a:solidFill>
                    <a:schemeClr val="tx1"/>
                  </a:solidFill>
                </a:ln>
                <a:latin typeface="Roboto" panose="02000000000000000000" pitchFamily="2" charset="0"/>
              </a:rPr>
              <a:t>24</a:t>
            </a:r>
            <a:r>
              <a:rPr lang="en-GB" sz="2700" b="1" baseline="30000" dirty="0">
                <a:ln>
                  <a:solidFill>
                    <a:schemeClr val="tx1"/>
                  </a:solidFill>
                </a:ln>
                <a:latin typeface="Roboto" panose="02000000000000000000" pitchFamily="2" charset="0"/>
              </a:rPr>
              <a:t>th</a:t>
            </a:r>
            <a:r>
              <a:rPr lang="en-GB" sz="2700" b="1" dirty="0">
                <a:ln>
                  <a:solidFill>
                    <a:schemeClr val="tx1"/>
                  </a:solidFill>
                </a:ln>
                <a:latin typeface="Roboto" panose="02000000000000000000" pitchFamily="2" charset="0"/>
              </a:rPr>
              <a:t> May 2023</a:t>
            </a:r>
          </a:p>
          <a:p>
            <a:pPr algn="ctr"/>
            <a:endParaRPr lang="en-GB" sz="2700" b="1" dirty="0">
              <a:ln>
                <a:solidFill>
                  <a:schemeClr val="tx1"/>
                </a:solidFill>
              </a:ln>
              <a:latin typeface="Roboto" panose="02000000000000000000" pitchFamily="2" charset="0"/>
            </a:endParaRPr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285DF0A-1A61-6D71-627C-00BE46096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49" y="1294864"/>
            <a:ext cx="3349795" cy="823142"/>
          </a:xfrm>
          <a:prstGeom prst="rect">
            <a:avLst/>
          </a:prstGeom>
        </p:spPr>
      </p:pic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2FF6075-09E5-57F8-C7D7-706722B0C9A1}"/>
              </a:ext>
            </a:extLst>
          </p:cNvPr>
          <p:cNvSpPr/>
          <p:nvPr/>
        </p:nvSpPr>
        <p:spPr>
          <a:xfrm rot="5400000" flipH="1">
            <a:off x="-461465" y="1300672"/>
            <a:ext cx="1532043" cy="642617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D02B2FEF-4236-1CDB-EE9B-EC504479180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66"/>
          <a:stretch/>
        </p:blipFill>
        <p:spPr>
          <a:xfrm>
            <a:off x="6798766" y="855957"/>
            <a:ext cx="1897511" cy="1532045"/>
          </a:xfrm>
          <a:prstGeom prst="rect">
            <a:avLst/>
          </a:pr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8B6FD06-7E26-CB5F-2D79-E2F19708E429}"/>
              </a:ext>
            </a:extLst>
          </p:cNvPr>
          <p:cNvSpPr/>
          <p:nvPr/>
        </p:nvSpPr>
        <p:spPr>
          <a:xfrm rot="16200000">
            <a:off x="8056670" y="1300672"/>
            <a:ext cx="1532043" cy="642617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E1C160F8-37CF-04A1-7CB1-7ABC30F28673}"/>
              </a:ext>
            </a:extLst>
          </p:cNvPr>
          <p:cNvSpPr/>
          <p:nvPr/>
        </p:nvSpPr>
        <p:spPr>
          <a:xfrm rot="16200000">
            <a:off x="7824178" y="4680923"/>
            <a:ext cx="1406015" cy="1233638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327F9B-9955-D73D-1BAD-4C0577309391}"/>
              </a:ext>
            </a:extLst>
          </p:cNvPr>
          <p:cNvCxnSpPr>
            <a:cxnSpLocks/>
          </p:cNvCxnSpPr>
          <p:nvPr/>
        </p:nvCxnSpPr>
        <p:spPr>
          <a:xfrm>
            <a:off x="-4560" y="4931383"/>
            <a:ext cx="906148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BASF Petronas Chemicals - Wikipedia Bahasa Melayu, ensiklopedia bebas">
            <a:extLst>
              <a:ext uri="{FF2B5EF4-FFF2-40B4-BE49-F238E27FC236}">
                <a16:creationId xmlns:a16="http://schemas.microsoft.com/office/drawing/2014/main" id="{F5FC2681-2E99-AFB5-5BFF-F9C8212C8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231" y="5076617"/>
            <a:ext cx="1519460" cy="725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Logo, company name&#10;&#10;Description automatically generated">
            <a:extLst>
              <a:ext uri="{FF2B5EF4-FFF2-40B4-BE49-F238E27FC236}">
                <a16:creationId xmlns:a16="http://schemas.microsoft.com/office/drawing/2014/main" id="{84462266-F354-181A-6CDB-D8B449A5560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66"/>
          <a:stretch/>
        </p:blipFill>
        <p:spPr>
          <a:xfrm>
            <a:off x="6798766" y="846017"/>
            <a:ext cx="1897511" cy="1532045"/>
          </a:xfrm>
          <a:prstGeom prst="rect">
            <a:avLst/>
          </a:prstGeom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08C4A7A-A369-3FF0-E007-23427F9EC8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426" y="1304741"/>
            <a:ext cx="2722754" cy="7793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355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What is Time-Series Data?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0E388-9B0E-F762-F0A2-8C7F90BF7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948"/>
            <a:ext cx="9144000" cy="407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0210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What is Time-Series Data?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1D2E3-D4F3-1A29-2EC0-ABA802C16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703768"/>
            <a:ext cx="8595360" cy="441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2500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What is Time-Series Data?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A957B3-E12D-8549-02E1-0BAA1FCB9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749109"/>
            <a:ext cx="8595360" cy="440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72650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What is Time-Series Data?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286FD1-4EE3-1BD6-BF92-34346C69E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736055"/>
            <a:ext cx="8595360" cy="442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48995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What is Time-Series Data?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76C46-F5FF-DE2F-D10A-8EF98098C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707027"/>
            <a:ext cx="8595360" cy="44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88017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What is Time-Series Data?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B97FD2-5B76-8BCC-BC67-765B4C610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711789"/>
            <a:ext cx="8412480" cy="467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51165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What to do with Time-Series Data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E1FE1-5533-1424-F3A2-35C84296B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874472"/>
            <a:ext cx="8595360" cy="416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99489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Analysis Applications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70EA8B-9820-7732-B719-450B5174C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78" y="645803"/>
            <a:ext cx="8085842" cy="3753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C5142E-7565-320A-45BF-E83E7A60F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534" y="4394150"/>
            <a:ext cx="3546491" cy="20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45690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Analysis Applications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B09982-C520-0C2A-05E9-F9C4326EF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06" y="645803"/>
            <a:ext cx="8154186" cy="449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027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Properties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57C993-32FB-785A-3207-3C3656C39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645803"/>
            <a:ext cx="8686800" cy="437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79391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Properties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C8206-9F1B-B2E7-0882-176F60AEE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685888"/>
            <a:ext cx="8686800" cy="442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41563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Component: Sample Data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6C7C98-98A0-824A-97D0-71C58B594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04" y="645803"/>
            <a:ext cx="8066989" cy="4018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3AEBBC-3C75-C2C9-7C9C-D78B875A9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777" y="4616789"/>
            <a:ext cx="3761692" cy="184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5657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Component: Stationary Data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F23DF-8C1E-0E31-64EB-526CE4F28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880294"/>
            <a:ext cx="8686800" cy="38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558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Component: Stationary Data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E6CAC-8EB0-B06C-77E0-A4C7FBF3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9" y="645803"/>
            <a:ext cx="8971219" cy="418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54783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Component: Differencing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FD839-549C-AFA0-C96F-81FB5401F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76" y="645803"/>
            <a:ext cx="8597245" cy="4219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91286F-6092-93E7-8D4F-4CD363C61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76" y="4969936"/>
            <a:ext cx="4541311" cy="150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483701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Component: Differencing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03BAE-3BD4-101E-5D32-AF45BAFF6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0" y="645803"/>
            <a:ext cx="8618458" cy="448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677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Component: Moving Average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8FA14-E927-8711-9177-3E0A64C88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71" y="645803"/>
            <a:ext cx="8389856" cy="483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27743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Time-Series Component: Auto Correlation Function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879B6-3759-82FF-06E3-387A58376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713"/>
            <a:ext cx="9144000" cy="15927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2F9010-B6C4-4268-D892-BD7FC2CFF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39" y="2349418"/>
            <a:ext cx="1530487" cy="13522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05E528-3926-1934-3E3B-6CD81861D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3426" y="2245947"/>
            <a:ext cx="4279131" cy="17473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5590A9-CEA7-4875-37C2-FA99E3DC30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57" y="4014723"/>
            <a:ext cx="4762168" cy="1989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34B583-28B3-7DF0-1852-716E72F1BC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416" y="4167796"/>
            <a:ext cx="3875817" cy="132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64971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 Series Quantitative Forecasting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46DDFC-CCBA-4783-C684-3CC3775DC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747292"/>
            <a:ext cx="8686800" cy="3984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5F3D7E-5C21-DABD-5B38-F569EE760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33" y="4665049"/>
            <a:ext cx="6423078" cy="173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16714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Time Series Quantitative Forecasting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B3CD40-BCE0-54E0-0C0E-02A47B16C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45803"/>
            <a:ext cx="9144000" cy="2060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FA8097-DB2E-0E53-7666-5DE3B3257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47" y="2503561"/>
            <a:ext cx="2594445" cy="31895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751D71-1F48-2668-5459-B4024D833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186" y="2575527"/>
            <a:ext cx="5666102" cy="269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38402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Explanatory Model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2C9324-E135-5332-1D18-5E03175FD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774580"/>
            <a:ext cx="8686800" cy="421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59140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Explanatory Model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8A4258-7F79-6104-09FE-EBEF76691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1223"/>
            <a:ext cx="9144000" cy="4319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B4AA60-FFF9-EEEA-ED2F-5BA08EE24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437" y="1200749"/>
            <a:ext cx="4416379" cy="153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9594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Explanatory Model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8A4258-7F79-6104-09FE-EBEF766917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5221"/>
          <a:stretch/>
        </p:blipFill>
        <p:spPr>
          <a:xfrm>
            <a:off x="0" y="741223"/>
            <a:ext cx="9144000" cy="1502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6DC533-097E-1452-CF0B-3B48FF0DA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73" y="2370722"/>
            <a:ext cx="7629794" cy="337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957742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Explanatory Model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CE5BD-B20D-C2FF-EDED-BBD2ABF5E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7327"/>
            <a:ext cx="9144000" cy="35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9965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Machine Learning Model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0575ED-C064-4EFD-A5AE-00D362D38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803"/>
            <a:ext cx="9144000" cy="15100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D881D9-E6E3-6D8E-DE19-61F769E12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39" y="2034077"/>
            <a:ext cx="2249924" cy="20545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664139-DB4B-2C14-8FB1-D0807AA78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0497" y="1976316"/>
            <a:ext cx="3019846" cy="2170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0D72EC-217E-2339-98FA-2E8A6E78A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0497" y="4296157"/>
            <a:ext cx="2976646" cy="20704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2BD873-9B8A-7622-C995-02BB389B8C7D}"/>
              </a:ext>
            </a:extLst>
          </p:cNvPr>
          <p:cNvSpPr txBox="1"/>
          <p:nvPr/>
        </p:nvSpPr>
        <p:spPr>
          <a:xfrm>
            <a:off x="5203595" y="4911268"/>
            <a:ext cx="21964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38BBC0-697A-1182-21A8-59F429BD09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26" y="4311115"/>
            <a:ext cx="2124637" cy="201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75616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Forecasting Output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8B3802-8E53-2DF4-84FE-85043E39F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737" y="1419225"/>
            <a:ext cx="64865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66196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Model Evaluation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8CE02-DED3-9A22-2D0E-EEB764BE2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20420"/>
            <a:ext cx="9144000" cy="40031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D783F3-E7EA-10CB-98D4-9C6F85C75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16" y="4547130"/>
            <a:ext cx="6042581" cy="188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46678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Model Evaluation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3C7BD-0575-6E19-7F33-A8A4CC2B3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97" y="645803"/>
            <a:ext cx="8512404" cy="439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50159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Artificial Neural Network (ANN)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F1182-A1F8-CCA6-1BAC-0B32ED268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4" y="3698273"/>
            <a:ext cx="5528722" cy="26553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B5556E-B512-480E-2B25-9DBBD3049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58" y="762426"/>
            <a:ext cx="5349213" cy="2935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2CEAB3-A869-D519-5BE5-4617D80AE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515" y="1276036"/>
            <a:ext cx="3841379" cy="236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89097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Basic ANN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78A8F-2D5A-6188-B04C-0E266E6D0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47" y="821734"/>
            <a:ext cx="6452106" cy="405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99706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Perceptron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91D9A-980C-A2C4-DCF4-1DD907219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4" y="741967"/>
            <a:ext cx="8286750" cy="3733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2DEE46-13F1-FF5B-CC73-1CE1B8589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7" y="4751041"/>
            <a:ext cx="3818543" cy="15576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BEEFC8-C8F3-37DC-1885-7D3A8187C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601" y="4661672"/>
            <a:ext cx="2368326" cy="173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60726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Basic </a:t>
            </a:r>
            <a:r>
              <a:rPr lang="en-US" dirty="0"/>
              <a:t>Neural Network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AFEB7-B895-B3CE-10F8-9234E7134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744817"/>
            <a:ext cx="7955280" cy="463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74369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Basic </a:t>
            </a:r>
            <a:r>
              <a:rPr lang="en-US" dirty="0"/>
              <a:t>Neural Network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079B4B-3FE4-5AD4-65C2-8498E6507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84" y="744841"/>
            <a:ext cx="8380430" cy="3293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DF4C44-994E-E21F-9A8D-BD07885B1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12" y="4169084"/>
            <a:ext cx="4245207" cy="218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18624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How do we train a MLP?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5CBE6-09E6-4A2F-9CFE-1078A0D54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0" y="947737"/>
            <a:ext cx="476250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0789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Simple Neural Network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B1FFCD-F825-DB50-4ABB-5B2A3768E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948" y="645803"/>
            <a:ext cx="3012431" cy="162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371FA8-CE15-28D0-7D2E-62C3E7F9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763" y="2268803"/>
            <a:ext cx="6400800" cy="362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41382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Simple Neural Network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B1FFCD-F825-DB50-4ABB-5B2A3768E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948" y="645803"/>
            <a:ext cx="3012431" cy="1623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4EA9FD-94F5-1AF4-1C85-881C4AE6B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763" y="2268803"/>
            <a:ext cx="6400800" cy="262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46072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Simple Neural Network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9A0E8-3BFB-1698-283A-CDDB73C66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0" y="783135"/>
            <a:ext cx="7243518" cy="1913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941828-E4C1-93C4-5CBB-BF2227FAD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453" y="3048611"/>
            <a:ext cx="5230846" cy="328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33753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Simple Neural Network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B9CBD2-87A5-C2F4-3BFA-2403357C8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04" y="804453"/>
            <a:ext cx="5461655" cy="4544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E1D5D6-3832-7F93-7EDD-AF8B03231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168" y="5051735"/>
            <a:ext cx="4421662" cy="70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0324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Simple Neural Network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BE92D-A228-B4A9-4A7F-55B10F5FC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82" y="777907"/>
            <a:ext cx="6512989" cy="47787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02054A-2138-4E35-9396-32C4D1021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789" y="2554968"/>
            <a:ext cx="3450211" cy="136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96571"/>
      </p:ext>
    </p:extLst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Neural Network – Types of Connectivity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88883-3583-7FE0-2B51-53BE63624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796633"/>
            <a:ext cx="8138160" cy="463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52181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Neural Network – Topologies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34227-B16D-2D66-36D3-C80C6AFE2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19" y="645803"/>
            <a:ext cx="7223760" cy="488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12031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Neural Network – Topologies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BDF31-E930-D715-BF91-6E3416CAC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645803"/>
            <a:ext cx="7498080" cy="487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05426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Neural Network – Topologies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E150D6-6CD1-7F49-3A41-C53CF9116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59" y="678149"/>
            <a:ext cx="7040880" cy="492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65853"/>
      </p:ext>
    </p:extLst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Neural Network – Topologies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FD2F3-3152-9853-5648-FDF8A51E3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732967"/>
            <a:ext cx="7772400" cy="480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26845"/>
      </p:ext>
    </p:extLst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Understanding the Weights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F80B7-43CF-A39C-3E1A-A94BCE084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645803"/>
            <a:ext cx="7772400" cy="47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119898"/>
      </p:ext>
    </p:extLst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Interpreting Hidden Layers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DFBC5-A9AC-F1BC-5F6D-B014DAB98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67" y="645803"/>
            <a:ext cx="8041064" cy="494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09633"/>
      </p:ext>
    </p:extLst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02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dirty="0"/>
              <a:t>Interpreting Hidden Layers</a:t>
            </a:r>
            <a:endParaRPr sz="1800" dirty="0"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-1" y="6531438"/>
            <a:ext cx="78500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A9A5-5EFA-0AE4-BFA5-A2105D241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B544DC-E22A-BEF1-4A95-BA9329D2C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65" y="645803"/>
            <a:ext cx="8085868" cy="493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7296"/>
      </p:ext>
    </p:extLst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22"/>
          <p:cNvSpPr txBox="1"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Cabin"/>
              <a:buNone/>
            </a:pPr>
            <a:r>
              <a:rPr lang="en-US"/>
              <a:t>Thank You</a:t>
            </a:r>
            <a:endParaRPr sz="4000" b="1" i="0" u="none" strike="noStrike" cap="none">
              <a:solidFill>
                <a:srgbClr val="595959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60" name="Google Shape;1160;p22"/>
          <p:cNvSpPr txBox="1">
            <a:spLocks noGrp="1"/>
          </p:cNvSpPr>
          <p:nvPr>
            <p:ph type="sldNum" idx="4294967295"/>
          </p:nvPr>
        </p:nvSpPr>
        <p:spPr>
          <a:xfrm>
            <a:off x="0" y="6530975"/>
            <a:ext cx="7842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Slide </a:t>
            </a:r>
            <a:fld id="{00000000-1234-1234-1234-123412341234}" type="slidenum">
              <a:rPr lang="en-US" sz="12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48</a:t>
            </a:fld>
            <a:endParaRPr sz="12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BASF_CONVERTED_TO_TAGS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On-screen Show (4:3)</PresentationFormat>
  <Paragraphs>104</Paragraphs>
  <Slides>49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Noto Sans Symbols</vt:lpstr>
      <vt:lpstr>Calibri</vt:lpstr>
      <vt:lpstr>Roboto</vt:lpstr>
      <vt:lpstr>Gill Sans</vt:lpstr>
      <vt:lpstr>Cabin</vt:lpstr>
      <vt:lpstr>Office Theme</vt:lpstr>
      <vt:lpstr>1_Office Theme</vt:lpstr>
      <vt:lpstr>PowerPoint Presentation</vt:lpstr>
      <vt:lpstr>What is Time-Series Data?</vt:lpstr>
      <vt:lpstr>What is Time-Series Data?</vt:lpstr>
      <vt:lpstr>What is Time-Series Data?</vt:lpstr>
      <vt:lpstr>What is Time-Series Data?</vt:lpstr>
      <vt:lpstr>What is Time-Series Data?</vt:lpstr>
      <vt:lpstr>What is Time-Series Data?</vt:lpstr>
      <vt:lpstr>What to do with Time-Series Data</vt:lpstr>
      <vt:lpstr>Time-Series Analysis Applications</vt:lpstr>
      <vt:lpstr>Time-Series Analysis Applications</vt:lpstr>
      <vt:lpstr>Time-Series Properties</vt:lpstr>
      <vt:lpstr>Time-Series Properties</vt:lpstr>
      <vt:lpstr>Time-Series Component: Sample Data</vt:lpstr>
      <vt:lpstr>Time-Series Component: Stationary Data</vt:lpstr>
      <vt:lpstr>Time-Series Component: Stationary Data</vt:lpstr>
      <vt:lpstr>Time-Series Component: Differencing</vt:lpstr>
      <vt:lpstr>Time-Series Component: Differencing</vt:lpstr>
      <vt:lpstr>Time-Series Component: Moving Average</vt:lpstr>
      <vt:lpstr>Time-Series Component: Auto Correlation Function</vt:lpstr>
      <vt:lpstr>Time Series Quantitative Forecasting</vt:lpstr>
      <vt:lpstr>Time Series Quantitative Forecasting</vt:lpstr>
      <vt:lpstr>Explanatory Model</vt:lpstr>
      <vt:lpstr>Explanatory Model</vt:lpstr>
      <vt:lpstr>Explanatory Model</vt:lpstr>
      <vt:lpstr>Explanatory Model</vt:lpstr>
      <vt:lpstr>Machine Learning Model</vt:lpstr>
      <vt:lpstr>Forecasting Output</vt:lpstr>
      <vt:lpstr>Model Evaluation</vt:lpstr>
      <vt:lpstr>Model Evaluation</vt:lpstr>
      <vt:lpstr>Artificial Neural Network (ANN)</vt:lpstr>
      <vt:lpstr>Basic ANN</vt:lpstr>
      <vt:lpstr>Perceptron</vt:lpstr>
      <vt:lpstr>Basic Neural Network</vt:lpstr>
      <vt:lpstr>Basic Neural Network</vt:lpstr>
      <vt:lpstr>How do we train a MLP?</vt:lpstr>
      <vt:lpstr>Simple Neural Network</vt:lpstr>
      <vt:lpstr>Simple Neural Network</vt:lpstr>
      <vt:lpstr>Simple Neural Network</vt:lpstr>
      <vt:lpstr>Simple Neural Network</vt:lpstr>
      <vt:lpstr>Simple Neural Network</vt:lpstr>
      <vt:lpstr>Neural Network – Types of Connectivity</vt:lpstr>
      <vt:lpstr>Neural Network – Topologies</vt:lpstr>
      <vt:lpstr>Neural Network – Topologies</vt:lpstr>
      <vt:lpstr>Neural Network – Topologies</vt:lpstr>
      <vt:lpstr>Neural Network – Topologies</vt:lpstr>
      <vt:lpstr>Understanding the Weights</vt:lpstr>
      <vt:lpstr>Interpreting Hidden Layers</vt:lpstr>
      <vt:lpstr>Interpreting Hidden Layers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Iqbal Shafiq bin Mohd Shaufi</cp:lastModifiedBy>
  <cp:revision>147</cp:revision>
  <cp:lastPrinted>2022-09-20T15:06:18Z</cp:lastPrinted>
  <dcterms:modified xsi:type="dcterms:W3CDTF">2023-07-06T09:53:54Z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_to_AIP">
    <vt:i4>0</vt:i4>
  </property>
  <property fmtid="{D5CDD505-2E9C-101B-9397-08002B2CF9AE}" pid="3" name="MSIP_Label_06530cf4-8573-4c29-a912-bbcdac835909_Enabled">
    <vt:lpwstr>true</vt:lpwstr>
  </property>
  <property fmtid="{D5CDD505-2E9C-101B-9397-08002B2CF9AE}" pid="4" name="MSIP_Label_06530cf4-8573-4c29-a912-bbcdac835909_SetDate">
    <vt:lpwstr>2023-07-06T09:53:46Z</vt:lpwstr>
  </property>
  <property fmtid="{D5CDD505-2E9C-101B-9397-08002B2CF9AE}" pid="5" name="MSIP_Label_06530cf4-8573-4c29-a912-bbcdac835909_Method">
    <vt:lpwstr>Standard</vt:lpwstr>
  </property>
  <property fmtid="{D5CDD505-2E9C-101B-9397-08002B2CF9AE}" pid="6" name="MSIP_Label_06530cf4-8573-4c29-a912-bbcdac835909_Name">
    <vt:lpwstr>06530cf4-8573-4c29-a912-bbcdac835909</vt:lpwstr>
  </property>
  <property fmtid="{D5CDD505-2E9C-101B-9397-08002B2CF9AE}" pid="7" name="MSIP_Label_06530cf4-8573-4c29-a912-bbcdac835909_SiteId">
    <vt:lpwstr>ecaa386b-c8df-4ce0-ad01-740cbdb5ba55</vt:lpwstr>
  </property>
  <property fmtid="{D5CDD505-2E9C-101B-9397-08002B2CF9AE}" pid="8" name="MSIP_Label_06530cf4-8573-4c29-a912-bbcdac835909_ActionId">
    <vt:lpwstr>22558ba3-eb50-4a9e-95ee-b892995b61cd</vt:lpwstr>
  </property>
  <property fmtid="{D5CDD505-2E9C-101B-9397-08002B2CF9AE}" pid="9" name="MSIP_Label_06530cf4-8573-4c29-a912-bbcdac835909_ContentBits">
    <vt:lpwstr>2</vt:lpwstr>
  </property>
</Properties>
</file>